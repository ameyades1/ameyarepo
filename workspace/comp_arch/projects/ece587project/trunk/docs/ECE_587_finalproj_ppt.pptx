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8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81" r:id="rId4"/>
    <p:sldId id="284" r:id="rId5"/>
    <p:sldId id="283" r:id="rId6"/>
    <p:sldId id="258" r:id="rId7"/>
    <p:sldId id="270" r:id="rId8"/>
    <p:sldId id="260" r:id="rId9"/>
    <p:sldId id="285" r:id="rId10"/>
    <p:sldId id="277" r:id="rId11"/>
    <p:sldId id="278" r:id="rId12"/>
    <p:sldId id="280" r:id="rId13"/>
    <p:sldId id="286" r:id="rId14"/>
    <p:sldId id="261" r:id="rId15"/>
    <p:sldId id="262" r:id="rId16"/>
    <p:sldId id="276" r:id="rId17"/>
    <p:sldId id="265" r:id="rId18"/>
    <p:sldId id="266" r:id="rId19"/>
    <p:sldId id="287" r:id="rId20"/>
    <p:sldId id="288" r:id="rId21"/>
    <p:sldId id="282" r:id="rId22"/>
    <p:sldId id="279" r:id="rId23"/>
    <p:sldId id="269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96" y="-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  <c:pt idx="6">
                  <c:v>Perl</c:v>
                </c:pt>
                <c:pt idx="7">
                  <c:v>Vortex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0.83809999999999996</c:v>
                </c:pt>
                <c:pt idx="1">
                  <c:v>0.2286</c:v>
                </c:pt>
                <c:pt idx="2">
                  <c:v>0.35520000000000002</c:v>
                </c:pt>
                <c:pt idx="3">
                  <c:v>1.2882</c:v>
                </c:pt>
                <c:pt idx="4">
                  <c:v>0.40899999999999997</c:v>
                </c:pt>
                <c:pt idx="5">
                  <c:v>0.55420000000000003</c:v>
                </c:pt>
                <c:pt idx="6">
                  <c:v>0.20319999999999999</c:v>
                </c:pt>
                <c:pt idx="7">
                  <c:v>0.21679999999999999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Victim=1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  <c:pt idx="6">
                  <c:v>Perl</c:v>
                </c:pt>
                <c:pt idx="7">
                  <c:v>Vortex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0.83809999999999996</c:v>
                </c:pt>
                <c:pt idx="1">
                  <c:v>0.22900000000000001</c:v>
                </c:pt>
                <c:pt idx="2">
                  <c:v>0.35589999999999999</c:v>
                </c:pt>
                <c:pt idx="3">
                  <c:v>1.2882</c:v>
                </c:pt>
                <c:pt idx="4">
                  <c:v>0.41220000000000001</c:v>
                </c:pt>
                <c:pt idx="5">
                  <c:v>0.63590000000000002</c:v>
                </c:pt>
                <c:pt idx="6">
                  <c:v>0.20419999999999999</c:v>
                </c:pt>
                <c:pt idx="7">
                  <c:v>0.21709999999999999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Victim = 2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  <c:pt idx="6">
                  <c:v>Perl</c:v>
                </c:pt>
                <c:pt idx="7">
                  <c:v>Vortex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0.83809999999999996</c:v>
                </c:pt>
                <c:pt idx="1">
                  <c:v>0.22950000000000001</c:v>
                </c:pt>
                <c:pt idx="2">
                  <c:v>0.35699999999999998</c:v>
                </c:pt>
                <c:pt idx="3">
                  <c:v>1.2882</c:v>
                </c:pt>
                <c:pt idx="4">
                  <c:v>0.42049999999999998</c:v>
                </c:pt>
                <c:pt idx="5">
                  <c:v>1.1466000000000001</c:v>
                </c:pt>
                <c:pt idx="6">
                  <c:v>0.20799999999999999</c:v>
                </c:pt>
                <c:pt idx="7">
                  <c:v>0.218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Victim = 64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  <c:pt idx="6">
                  <c:v>Perl</c:v>
                </c:pt>
                <c:pt idx="7">
                  <c:v>Vortex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0.83809999999999996</c:v>
                </c:pt>
                <c:pt idx="1">
                  <c:v>0.25590000000000002</c:v>
                </c:pt>
                <c:pt idx="2">
                  <c:v>0.4834</c:v>
                </c:pt>
                <c:pt idx="3">
                  <c:v>1.5250999999999999</c:v>
                </c:pt>
                <c:pt idx="4">
                  <c:v>0.65529999999999999</c:v>
                </c:pt>
                <c:pt idx="5">
                  <c:v>1.1113</c:v>
                </c:pt>
                <c:pt idx="6">
                  <c:v>0.35060000000000002</c:v>
                </c:pt>
                <c:pt idx="7">
                  <c:v>0.28170000000000001</c:v>
                </c:pt>
              </c:numCache>
            </c:numRef>
          </c:val>
        </c:ser>
        <c:axId val="47981696"/>
        <c:axId val="47983232"/>
      </c:barChart>
      <c:catAx>
        <c:axId val="47981696"/>
        <c:scaling>
          <c:orientation val="minMax"/>
        </c:scaling>
        <c:axPos val="b"/>
        <c:tickLblPos val="nextTo"/>
        <c:crossAx val="47983232"/>
        <c:crosses val="autoZero"/>
        <c:auto val="1"/>
        <c:lblAlgn val="ctr"/>
        <c:lblOffset val="100"/>
      </c:catAx>
      <c:valAx>
        <c:axId val="47983232"/>
        <c:scaling>
          <c:orientation val="minMax"/>
        </c:scaling>
        <c:axPos val="l"/>
        <c:majorGridlines/>
        <c:numFmt formatCode="General" sourceLinked="1"/>
        <c:tickLblPos val="nextTo"/>
        <c:crossAx val="47981696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  <c:pt idx="6">
                  <c:v>Perl</c:v>
                </c:pt>
                <c:pt idx="7">
                  <c:v>Vortex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0.83809999999999996</c:v>
                </c:pt>
                <c:pt idx="1">
                  <c:v>0.2286</c:v>
                </c:pt>
                <c:pt idx="2">
                  <c:v>0.35520000000000002</c:v>
                </c:pt>
                <c:pt idx="3">
                  <c:v>1.2882</c:v>
                </c:pt>
                <c:pt idx="4">
                  <c:v>0.40899999999999997</c:v>
                </c:pt>
                <c:pt idx="5">
                  <c:v>0.55420000000000003</c:v>
                </c:pt>
                <c:pt idx="6">
                  <c:v>0.20319999999999999</c:v>
                </c:pt>
                <c:pt idx="7">
                  <c:v>0.21679999999999999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Victim=1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  <c:pt idx="6">
                  <c:v>Perl</c:v>
                </c:pt>
                <c:pt idx="7">
                  <c:v>Vortex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0.83809999999999996</c:v>
                </c:pt>
                <c:pt idx="1">
                  <c:v>0.2296</c:v>
                </c:pt>
                <c:pt idx="2">
                  <c:v>0.35759999999999997</c:v>
                </c:pt>
                <c:pt idx="3">
                  <c:v>1.2882</c:v>
                </c:pt>
                <c:pt idx="4">
                  <c:v>0.42209999999999998</c:v>
                </c:pt>
                <c:pt idx="5">
                  <c:v>1.1472</c:v>
                </c:pt>
                <c:pt idx="6">
                  <c:v>0.20749999999999999</c:v>
                </c:pt>
                <c:pt idx="7">
                  <c:v>0.21809999999999999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Victim = 2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  <c:pt idx="6">
                  <c:v>Perl</c:v>
                </c:pt>
                <c:pt idx="7">
                  <c:v>Vortex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0.83809999999999996</c:v>
                </c:pt>
                <c:pt idx="1">
                  <c:v>0.2306</c:v>
                </c:pt>
                <c:pt idx="2">
                  <c:v>0.36070000000000002</c:v>
                </c:pt>
                <c:pt idx="3">
                  <c:v>1.2883</c:v>
                </c:pt>
                <c:pt idx="4">
                  <c:v>0.42770000000000002</c:v>
                </c:pt>
                <c:pt idx="5">
                  <c:v>1.1486000000000001</c:v>
                </c:pt>
                <c:pt idx="6">
                  <c:v>0.21379999999999999</c:v>
                </c:pt>
                <c:pt idx="7">
                  <c:v>0.21990000000000001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Victim = 64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  <c:pt idx="6">
                  <c:v>Perl</c:v>
                </c:pt>
                <c:pt idx="7">
                  <c:v>Vortex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0.83809999999999996</c:v>
                </c:pt>
                <c:pt idx="1">
                  <c:v>0.28139999999999998</c:v>
                </c:pt>
                <c:pt idx="2">
                  <c:v>0.6159</c:v>
                </c:pt>
                <c:pt idx="3">
                  <c:v>1.7721</c:v>
                </c:pt>
                <c:pt idx="4">
                  <c:v>0.91510000000000002</c:v>
                </c:pt>
                <c:pt idx="5">
                  <c:v>1.1113</c:v>
                </c:pt>
                <c:pt idx="6">
                  <c:v>0.60350000000000004</c:v>
                </c:pt>
                <c:pt idx="7">
                  <c:v>0.28170000000000001</c:v>
                </c:pt>
              </c:numCache>
            </c:numRef>
          </c:val>
        </c:ser>
        <c:axId val="163240960"/>
        <c:axId val="47596288"/>
      </c:barChart>
      <c:catAx>
        <c:axId val="163240960"/>
        <c:scaling>
          <c:orientation val="minMax"/>
        </c:scaling>
        <c:axPos val="b"/>
        <c:tickLblPos val="nextTo"/>
        <c:crossAx val="47596288"/>
        <c:crosses val="autoZero"/>
        <c:auto val="1"/>
        <c:lblAlgn val="ctr"/>
        <c:lblOffset val="100"/>
      </c:catAx>
      <c:valAx>
        <c:axId val="47596288"/>
        <c:scaling>
          <c:orientation val="minMax"/>
        </c:scaling>
        <c:axPos val="l"/>
        <c:majorGridlines/>
        <c:numFmt formatCode="General" sourceLinked="1"/>
        <c:tickLblPos val="nextTo"/>
        <c:crossAx val="163240960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Perl</c:v>
                </c:pt>
                <c:pt idx="6">
                  <c:v>Vortex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0.83810000000000029</c:v>
                </c:pt>
                <c:pt idx="1">
                  <c:v>0.2286</c:v>
                </c:pt>
                <c:pt idx="2">
                  <c:v>0.35520000000000002</c:v>
                </c:pt>
                <c:pt idx="3">
                  <c:v>1.2882</c:v>
                </c:pt>
                <c:pt idx="4">
                  <c:v>0.40900000000000014</c:v>
                </c:pt>
                <c:pt idx="5">
                  <c:v>0.20319999999999999</c:v>
                </c:pt>
                <c:pt idx="6">
                  <c:v>0.21680000000000008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Stream Buffer=2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Perl</c:v>
                </c:pt>
                <c:pt idx="6">
                  <c:v>Vortex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0.83819999999999995</c:v>
                </c:pt>
                <c:pt idx="1">
                  <c:v>0.40010000000000001</c:v>
                </c:pt>
                <c:pt idx="2">
                  <c:v>0.62770000000000048</c:v>
                </c:pt>
                <c:pt idx="3">
                  <c:v>1.6358999999999992</c:v>
                </c:pt>
                <c:pt idx="4">
                  <c:v>0.6537000000000005</c:v>
                </c:pt>
                <c:pt idx="5">
                  <c:v>0.37270000000000014</c:v>
                </c:pt>
                <c:pt idx="6">
                  <c:v>0.47060000000000002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Stream Buffer=4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Perl</c:v>
                </c:pt>
                <c:pt idx="6">
                  <c:v>Vortex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0.83819999999999995</c:v>
                </c:pt>
                <c:pt idx="1">
                  <c:v>0.4607</c:v>
                </c:pt>
                <c:pt idx="2">
                  <c:v>0.72929999999999995</c:v>
                </c:pt>
                <c:pt idx="3">
                  <c:v>1.7341</c:v>
                </c:pt>
                <c:pt idx="4">
                  <c:v>0.73070000000000035</c:v>
                </c:pt>
                <c:pt idx="5">
                  <c:v>0.41630000000000017</c:v>
                </c:pt>
                <c:pt idx="6">
                  <c:v>0.57330000000000003</c:v>
                </c:pt>
              </c:numCache>
            </c:numRef>
          </c:val>
        </c:ser>
        <c:axId val="48092288"/>
        <c:axId val="48093824"/>
      </c:barChart>
      <c:catAx>
        <c:axId val="48092288"/>
        <c:scaling>
          <c:orientation val="minMax"/>
        </c:scaling>
        <c:axPos val="b"/>
        <c:tickLblPos val="nextTo"/>
        <c:crossAx val="48093824"/>
        <c:crosses val="autoZero"/>
        <c:auto val="1"/>
        <c:lblAlgn val="ctr"/>
        <c:lblOffset val="100"/>
      </c:catAx>
      <c:valAx>
        <c:axId val="48093824"/>
        <c:scaling>
          <c:orientation val="minMax"/>
        </c:scaling>
        <c:axPos val="l"/>
        <c:majorGridlines/>
        <c:numFmt formatCode="General" sourceLinked="1"/>
        <c:tickLblPos val="nextTo"/>
        <c:crossAx val="48092288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Perl</c:v>
                </c:pt>
                <c:pt idx="6">
                  <c:v>Vortex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0.83809999999999996</c:v>
                </c:pt>
                <c:pt idx="1">
                  <c:v>0.2286</c:v>
                </c:pt>
                <c:pt idx="2">
                  <c:v>0.35520000000000002</c:v>
                </c:pt>
                <c:pt idx="3">
                  <c:v>1.2882</c:v>
                </c:pt>
                <c:pt idx="4">
                  <c:v>0.40899999999999997</c:v>
                </c:pt>
                <c:pt idx="5">
                  <c:v>0.20319999999999999</c:v>
                </c:pt>
                <c:pt idx="6">
                  <c:v>0.21679999999999999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Stream Buffer=2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Perl</c:v>
                </c:pt>
                <c:pt idx="6">
                  <c:v>Vortex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0.83819999999999995</c:v>
                </c:pt>
                <c:pt idx="1">
                  <c:v>0.40010000000000001</c:v>
                </c:pt>
                <c:pt idx="2">
                  <c:v>0.62770000000000004</c:v>
                </c:pt>
                <c:pt idx="3">
                  <c:v>1.6358999999999999</c:v>
                </c:pt>
                <c:pt idx="4">
                  <c:v>0.65369999999999995</c:v>
                </c:pt>
                <c:pt idx="5">
                  <c:v>0.37269999999999998</c:v>
                </c:pt>
                <c:pt idx="6">
                  <c:v>0.47060000000000002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Stream Buffer=4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Perl</c:v>
                </c:pt>
                <c:pt idx="6">
                  <c:v>Vortex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0.83819999999999995</c:v>
                </c:pt>
                <c:pt idx="1">
                  <c:v>0.4607</c:v>
                </c:pt>
                <c:pt idx="2">
                  <c:v>0.72929999999999995</c:v>
                </c:pt>
                <c:pt idx="3">
                  <c:v>1.7341</c:v>
                </c:pt>
                <c:pt idx="4">
                  <c:v>0.73070000000000002</c:v>
                </c:pt>
                <c:pt idx="5">
                  <c:v>0.4163</c:v>
                </c:pt>
                <c:pt idx="6">
                  <c:v>0.57330000000000003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Stream Buffer=1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Perl</c:v>
                </c:pt>
                <c:pt idx="6">
                  <c:v>Vortex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0.83809999999999996</c:v>
                </c:pt>
                <c:pt idx="1">
                  <c:v>0.33589999999999998</c:v>
                </c:pt>
                <c:pt idx="2">
                  <c:v>0.52690000000000003</c:v>
                </c:pt>
                <c:pt idx="3">
                  <c:v>1.5387</c:v>
                </c:pt>
                <c:pt idx="4">
                  <c:v>0.56699999999999995</c:v>
                </c:pt>
                <c:pt idx="5">
                  <c:v>0.31009999999999999</c:v>
                </c:pt>
                <c:pt idx="6">
                  <c:v>0.35880000000000001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Stream Buffer=8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Perl</c:v>
                </c:pt>
                <c:pt idx="6">
                  <c:v>Vortex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0.83819999999999995</c:v>
                </c:pt>
                <c:pt idx="1">
                  <c:v>0.4965</c:v>
                </c:pt>
                <c:pt idx="2">
                  <c:v>0.80479999999999996</c:v>
                </c:pt>
                <c:pt idx="3">
                  <c:v>1.7919</c:v>
                </c:pt>
                <c:pt idx="4">
                  <c:v>0.75780000000000003</c:v>
                </c:pt>
                <c:pt idx="5">
                  <c:v>0.43490000000000001</c:v>
                </c:pt>
                <c:pt idx="6">
                  <c:v>0.67320000000000002</c:v>
                </c:pt>
              </c:numCache>
            </c:numRef>
          </c:val>
        </c:ser>
        <c:axId val="132810624"/>
        <c:axId val="132812160"/>
      </c:barChart>
      <c:catAx>
        <c:axId val="132810624"/>
        <c:scaling>
          <c:orientation val="minMax"/>
        </c:scaling>
        <c:axPos val="b"/>
        <c:tickLblPos val="nextTo"/>
        <c:crossAx val="132812160"/>
        <c:crosses val="autoZero"/>
        <c:auto val="1"/>
        <c:lblAlgn val="ctr"/>
        <c:lblOffset val="100"/>
      </c:catAx>
      <c:valAx>
        <c:axId val="132812160"/>
        <c:scaling>
          <c:orientation val="minMax"/>
        </c:scaling>
        <c:axPos val="l"/>
        <c:majorGridlines/>
        <c:numFmt formatCode="General" sourceLinked="1"/>
        <c:tickLblPos val="nextTo"/>
        <c:crossAx val="132810624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Victim=1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0.83809999999999996</c:v>
                </c:pt>
                <c:pt idx="1">
                  <c:v>0.22900000000000001</c:v>
                </c:pt>
                <c:pt idx="2">
                  <c:v>0.35589999999999999</c:v>
                </c:pt>
                <c:pt idx="3">
                  <c:v>1.2882</c:v>
                </c:pt>
                <c:pt idx="4">
                  <c:v>0.41220000000000001</c:v>
                </c:pt>
                <c:pt idx="5">
                  <c:v>0.63590000000000002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Prediction=5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0.30567685589518706</c:v>
                </c:pt>
                <c:pt idx="2">
                  <c:v>1.152008991289686</c:v>
                </c:pt>
                <c:pt idx="3">
                  <c:v>0.55891942244993753</c:v>
                </c:pt>
                <c:pt idx="4">
                  <c:v>0.58224163027656795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Prediction=10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0.26200873362444954</c:v>
                </c:pt>
                <c:pt idx="2">
                  <c:v>0.53385782523181025</c:v>
                </c:pt>
                <c:pt idx="3">
                  <c:v>0.41142679708120494</c:v>
                </c:pt>
                <c:pt idx="4">
                  <c:v>1.213003396409511</c:v>
                </c:pt>
                <c:pt idx="5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Prediction=11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</c:numCache>
            </c:numRef>
          </c:val>
        </c:ser>
        <c:axId val="48785664"/>
        <c:axId val="48795648"/>
      </c:barChart>
      <c:catAx>
        <c:axId val="48785664"/>
        <c:scaling>
          <c:orientation val="minMax"/>
        </c:scaling>
        <c:axPos val="b"/>
        <c:tickLblPos val="nextTo"/>
        <c:crossAx val="48795648"/>
        <c:crosses val="autoZero"/>
        <c:auto val="1"/>
        <c:lblAlgn val="ctr"/>
        <c:lblOffset val="100"/>
      </c:catAx>
      <c:valAx>
        <c:axId val="48795648"/>
        <c:scaling>
          <c:orientation val="minMax"/>
        </c:scaling>
        <c:axPos val="l"/>
        <c:majorGridlines/>
        <c:numFmt formatCode="General" sourceLinked="1"/>
        <c:tickLblPos val="nextTo"/>
        <c:crossAx val="48785664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Victim=2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0.83809999999999996</c:v>
                </c:pt>
                <c:pt idx="1">
                  <c:v>0.22950000000000001</c:v>
                </c:pt>
                <c:pt idx="2">
                  <c:v>0.35699999999999998</c:v>
                </c:pt>
                <c:pt idx="3">
                  <c:v>1.2882</c:v>
                </c:pt>
                <c:pt idx="4">
                  <c:v>0.42049999999999998</c:v>
                </c:pt>
                <c:pt idx="5">
                  <c:v>1.1466000000000001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Prediction=5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8.7145969498901077E-2</c:v>
                </c:pt>
                <c:pt idx="2">
                  <c:v>0.8403361344537823</c:v>
                </c:pt>
                <c:pt idx="3">
                  <c:v>0.55891942244993753</c:v>
                </c:pt>
                <c:pt idx="4">
                  <c:v>-1.4030915576694318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Prediction=10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4.3572984749450538E-2</c:v>
                </c:pt>
                <c:pt idx="2">
                  <c:v>0.22408963585434816</c:v>
                </c:pt>
                <c:pt idx="3">
                  <c:v>0.41142679708120494</c:v>
                </c:pt>
                <c:pt idx="4">
                  <c:v>-0.78478002378120559</c:v>
                </c:pt>
                <c:pt idx="5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Prediction=11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</c:numCache>
            </c:numRef>
          </c:val>
        </c:ser>
        <c:axId val="68310528"/>
        <c:axId val="68312064"/>
      </c:barChart>
      <c:catAx>
        <c:axId val="68310528"/>
        <c:scaling>
          <c:orientation val="minMax"/>
        </c:scaling>
        <c:axPos val="b"/>
        <c:tickLblPos val="nextTo"/>
        <c:crossAx val="68312064"/>
        <c:crosses val="autoZero"/>
        <c:auto val="1"/>
        <c:lblAlgn val="ctr"/>
        <c:lblOffset val="100"/>
      </c:catAx>
      <c:valAx>
        <c:axId val="68312064"/>
        <c:scaling>
          <c:orientation val="minMax"/>
        </c:scaling>
        <c:axPos val="l"/>
        <c:majorGridlines/>
        <c:numFmt formatCode="General" sourceLinked="1"/>
        <c:tickLblPos val="nextTo"/>
        <c:crossAx val="68310528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Victim=4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0.83809999999999996</c:v>
                </c:pt>
                <c:pt idx="1">
                  <c:v>0.23050000000000001</c:v>
                </c:pt>
                <c:pt idx="2">
                  <c:v>0.3604</c:v>
                </c:pt>
                <c:pt idx="3">
                  <c:v>1.2883</c:v>
                </c:pt>
                <c:pt idx="4">
                  <c:v>0.42599999999999999</c:v>
                </c:pt>
                <c:pt idx="5">
                  <c:v>1.1486000000000001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Prediction=5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-0.34707158351410972</c:v>
                </c:pt>
                <c:pt idx="2">
                  <c:v>-0.11098779134295546</c:v>
                </c:pt>
                <c:pt idx="3">
                  <c:v>0.55111387099278941</c:v>
                </c:pt>
                <c:pt idx="4">
                  <c:v>-2.676056338028161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Prediction=10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-0.39045553145336742</c:v>
                </c:pt>
                <c:pt idx="2">
                  <c:v>-0.72142064372918735</c:v>
                </c:pt>
                <c:pt idx="3">
                  <c:v>0.40363269424824139</c:v>
                </c:pt>
                <c:pt idx="4">
                  <c:v>-2.0657276995305107</c:v>
                </c:pt>
                <c:pt idx="5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Prediction=11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m88ksim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</c:numCache>
            </c:numRef>
          </c:val>
        </c:ser>
        <c:axId val="125515264"/>
        <c:axId val="125517184"/>
      </c:barChart>
      <c:catAx>
        <c:axId val="125515264"/>
        <c:scaling>
          <c:orientation val="minMax"/>
        </c:scaling>
        <c:axPos val="b"/>
        <c:tickLblPos val="nextTo"/>
        <c:crossAx val="125517184"/>
        <c:crosses val="autoZero"/>
        <c:auto val="1"/>
        <c:lblAlgn val="ctr"/>
        <c:lblOffset val="100"/>
      </c:catAx>
      <c:valAx>
        <c:axId val="125517184"/>
        <c:scaling>
          <c:orientation val="minMax"/>
        </c:scaling>
        <c:axPos val="l"/>
        <c:majorGridlines/>
        <c:numFmt formatCode="General" sourceLinked="1"/>
        <c:tickLblPos val="nextTo"/>
        <c:crossAx val="125515264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stream buffer w/o prediction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Pearl</c:v>
                </c:pt>
                <c:pt idx="6">
                  <c:v>Vortex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0.83810000000000007</c:v>
                </c:pt>
                <c:pt idx="1">
                  <c:v>0.33590000000000009</c:v>
                </c:pt>
                <c:pt idx="2">
                  <c:v>0.52690000000000003</c:v>
                </c:pt>
                <c:pt idx="3">
                  <c:v>1.5387</c:v>
                </c:pt>
                <c:pt idx="4">
                  <c:v>0.56699999999999995</c:v>
                </c:pt>
                <c:pt idx="5">
                  <c:v>0.3101000000000001</c:v>
                </c:pt>
                <c:pt idx="6">
                  <c:v>0.35880000000000006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stream buffer with Prediction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Compress</c:v>
                </c:pt>
                <c:pt idx="1">
                  <c:v>GCC</c:v>
                </c:pt>
                <c:pt idx="2">
                  <c:v>GO</c:v>
                </c:pt>
                <c:pt idx="3">
                  <c:v>ijpeg</c:v>
                </c:pt>
                <c:pt idx="4">
                  <c:v>li</c:v>
                </c:pt>
                <c:pt idx="5">
                  <c:v>Pearl</c:v>
                </c:pt>
                <c:pt idx="6">
                  <c:v>Vortex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0.41679071152128983</c:v>
                </c:pt>
                <c:pt idx="2">
                  <c:v>0.64528373505408221</c:v>
                </c:pt>
                <c:pt idx="3">
                  <c:v>0.10398388249821576</c:v>
                </c:pt>
                <c:pt idx="4">
                  <c:v>2.6102292768959505</c:v>
                </c:pt>
                <c:pt idx="5">
                  <c:v>4.6436633344082638</c:v>
                </c:pt>
                <c:pt idx="6">
                  <c:v>0.78037904124859792</c:v>
                </c:pt>
              </c:numCache>
            </c:numRef>
          </c:val>
        </c:ser>
        <c:axId val="128573824"/>
        <c:axId val="128575360"/>
      </c:barChart>
      <c:catAx>
        <c:axId val="128573824"/>
        <c:scaling>
          <c:orientation val="minMax"/>
        </c:scaling>
        <c:axPos val="b"/>
        <c:tickLblPos val="nextTo"/>
        <c:crossAx val="128575360"/>
        <c:crosses val="autoZero"/>
        <c:auto val="1"/>
        <c:lblAlgn val="ctr"/>
        <c:lblOffset val="100"/>
      </c:catAx>
      <c:valAx>
        <c:axId val="128575360"/>
        <c:scaling>
          <c:orientation val="minMax"/>
        </c:scaling>
        <c:axPos val="l"/>
        <c:majorGridlines/>
        <c:numFmt formatCode="General" sourceLinked="1"/>
        <c:tickLblPos val="nextTo"/>
        <c:crossAx val="128573824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01743-848C-485D-BC6D-E592B7031B17}" type="datetimeFigureOut">
              <a:rPr lang="en-US" smtClean="0"/>
              <a:pPr/>
              <a:t>6/12/2013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91F5E-CD41-4D59-A685-033F13658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80D8761-878C-40CD-A6D0-5E2E67A4CB24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FD5EDA-BDB6-4C10-9D79-2A2CD6202A0D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F735503-2C0E-425B-AC6F-7C305D94A573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D1561E-971B-4CF3-98D7-6948986F1C5D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341891-830A-4827-BC73-9238171A8A0C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9025D-7CF5-4E0B-A55D-284964CA8266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0C5C1C-8432-473D-B9C2-8D1F2A98E1C8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3FD7532E-B527-47B3-81A4-4B2D07BC226F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0A8BCD6-BA65-4D4F-801F-368D86C257B6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5644C1-F014-4F85-AE71-2476D2E79E08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35C136-9128-4708-9F55-A0881E1D30D6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FF8FF38-B94A-47CC-A129-9272AD3F7486}" type="datetime1">
              <a:rPr lang="en-US" smtClean="0"/>
              <a:pPr/>
              <a:t>6/12/2013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Calibri" pitchFamily="34" charset="0"/>
                <a:cs typeface="Calibri" pitchFamily="34" charset="0"/>
              </a:rPr>
              <a:t>PREDICTION CACHES FOR SUPERSCALAR PROCESSORS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62000" y="2667000"/>
            <a:ext cx="7772400" cy="2819400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en-US" sz="2000" dirty="0" smtClean="0"/>
              <a:t>					</a:t>
            </a:r>
          </a:p>
          <a:p>
            <a:pPr algn="just"/>
            <a:r>
              <a:rPr lang="en-US" sz="2000" dirty="0" smtClean="0"/>
              <a:t>	                         </a:t>
            </a:r>
            <a:r>
              <a:rPr lang="en-US" sz="6200" dirty="0" smtClean="0">
                <a:latin typeface="Calibri" pitchFamily="34" charset="0"/>
                <a:cs typeface="Calibri" pitchFamily="34" charset="0"/>
              </a:rPr>
              <a:t>WITH VICTIM CACHES AND STREAM BUFFERS</a:t>
            </a:r>
            <a:endParaRPr lang="en-US" sz="2000" dirty="0" smtClean="0"/>
          </a:p>
          <a:p>
            <a:pPr algn="just"/>
            <a:r>
              <a:rPr lang="en-US" sz="2000" dirty="0" smtClean="0"/>
              <a:t>	</a:t>
            </a:r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3500" dirty="0" smtClean="0"/>
          </a:p>
          <a:p>
            <a:pPr algn="just"/>
            <a:r>
              <a:rPr lang="en-US" sz="3500" dirty="0" smtClean="0"/>
              <a:t>					</a:t>
            </a:r>
            <a:r>
              <a:rPr lang="en-US" sz="4000" dirty="0" smtClean="0"/>
              <a:t>By : </a:t>
            </a:r>
            <a:r>
              <a:rPr lang="en-US" sz="4000" dirty="0" err="1" smtClean="0"/>
              <a:t>Chinni</a:t>
            </a:r>
            <a:r>
              <a:rPr lang="en-US" sz="4000" dirty="0" smtClean="0"/>
              <a:t> </a:t>
            </a:r>
            <a:r>
              <a:rPr lang="en-US" sz="4000" dirty="0" err="1" smtClean="0"/>
              <a:t>Krinshna</a:t>
            </a:r>
            <a:r>
              <a:rPr lang="en-US" sz="4000" dirty="0" smtClean="0"/>
              <a:t> </a:t>
            </a:r>
            <a:r>
              <a:rPr lang="en-US" sz="4000" dirty="0" err="1" smtClean="0"/>
              <a:t>Kothapalli</a:t>
            </a:r>
            <a:endParaRPr lang="en-US" sz="4000" dirty="0" smtClean="0"/>
          </a:p>
          <a:p>
            <a:pPr algn="just"/>
            <a:r>
              <a:rPr lang="en-US" sz="4000" dirty="0" smtClean="0"/>
              <a:t>					       Ameya Deswandikar</a:t>
            </a:r>
          </a:p>
          <a:p>
            <a:pPr algn="just"/>
            <a:r>
              <a:rPr lang="en-US" sz="4000" dirty="0" smtClean="0"/>
              <a:t>					       </a:t>
            </a:r>
            <a:r>
              <a:rPr lang="en-US" sz="4000" dirty="0" err="1" smtClean="0"/>
              <a:t>Manas</a:t>
            </a:r>
            <a:r>
              <a:rPr lang="en-US" sz="4000" dirty="0" smtClean="0"/>
              <a:t> K.S</a:t>
            </a:r>
          </a:p>
          <a:p>
            <a:pPr algn="just"/>
            <a:r>
              <a:rPr lang="en-US" sz="4000" dirty="0" smtClean="0"/>
              <a:t>					       Sanjay Sharma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 current cache designs are inefficient.</a:t>
            </a:r>
          </a:p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Most of the cycles wasted in pipeline stalls due to memory access.</a:t>
            </a:r>
          </a:p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Latency of second and third level caches too high.</a:t>
            </a:r>
          </a:p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Increase in latency degrades machine performance by more than 20%.</a:t>
            </a:r>
          </a:p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Need for a better cache design.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MOTIVATION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block_diagram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4915" y="1481138"/>
            <a:ext cx="3934170" cy="452596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BASE DESIGN IMPLEMENTATION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pec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09647"/>
            <a:ext cx="8229600" cy="226894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Benchmarks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BASE DESIGN IMPLEMENTATION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Cache Configuration</a:t>
            </a:r>
          </a:p>
          <a:p>
            <a:pPr lvl="1"/>
            <a:r>
              <a:rPr lang="en-US" dirty="0" smtClean="0"/>
              <a:t>L1 Instruction Cache</a:t>
            </a:r>
          </a:p>
          <a:p>
            <a:pPr lvl="1"/>
            <a:r>
              <a:rPr lang="en-US" dirty="0" smtClean="0"/>
              <a:t>2 Kbyte 4 Way Set associative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L1 Data Cache</a:t>
            </a:r>
          </a:p>
          <a:p>
            <a:pPr lvl="1"/>
            <a:r>
              <a:rPr lang="en-US" dirty="0" smtClean="0"/>
              <a:t>2 Kbyte 4 Way Set associative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All other parameters are default values.</a:t>
            </a:r>
          </a:p>
          <a:p>
            <a:pPr lvl="1"/>
            <a:r>
              <a:rPr lang="en-US" dirty="0" smtClean="0"/>
              <a:t>Added switches for victim, prediction and stream buffers: </a:t>
            </a:r>
          </a:p>
          <a:p>
            <a:pPr lvl="1"/>
            <a:r>
              <a:rPr lang="en-US" sz="1600" dirty="0" smtClean="0"/>
              <a:t>-cache:il1v il1v:&lt;sets&gt;:&lt;</a:t>
            </a:r>
            <a:r>
              <a:rPr lang="en-US" sz="1600" dirty="0" err="1" smtClean="0"/>
              <a:t>bsize</a:t>
            </a:r>
            <a:r>
              <a:rPr lang="en-US" sz="1600" dirty="0" smtClean="0"/>
              <a:t>&gt;:&lt;assoc&gt;:&lt;</a:t>
            </a:r>
            <a:r>
              <a:rPr lang="en-US" sz="1600" dirty="0" err="1" smtClean="0"/>
              <a:t>repl_policy</a:t>
            </a:r>
            <a:r>
              <a:rPr lang="en-US" sz="1600" dirty="0" smtClean="0"/>
              <a:t>&gt;</a:t>
            </a:r>
          </a:p>
          <a:p>
            <a:pPr lvl="1"/>
            <a:r>
              <a:rPr lang="en-US" sz="1600" dirty="0" smtClean="0"/>
              <a:t>-</a:t>
            </a:r>
            <a:r>
              <a:rPr lang="en-US" sz="1600" dirty="0" err="1" smtClean="0"/>
              <a:t>streambuf:size</a:t>
            </a:r>
            <a:r>
              <a:rPr lang="en-US" sz="1600" dirty="0" smtClean="0"/>
              <a:t> &lt;size&gt;</a:t>
            </a:r>
          </a:p>
          <a:p>
            <a:pPr lvl="1"/>
            <a:r>
              <a:rPr lang="en-US" sz="1600" dirty="0" smtClean="0"/>
              <a:t>-</a:t>
            </a:r>
            <a:r>
              <a:rPr lang="en-US" sz="1600" dirty="0" err="1" smtClean="0"/>
              <a:t>mpred:size</a:t>
            </a:r>
            <a:r>
              <a:rPr lang="en-US" sz="1600" dirty="0" smtClean="0"/>
              <a:t> &lt;size&gt;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43800" cy="44196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Victim Caches	</a:t>
            </a:r>
          </a:p>
          <a:p>
            <a:pPr lvl="1"/>
            <a:r>
              <a:rPr lang="en-US" sz="2800" dirty="0" smtClean="0">
                <a:latin typeface="Calibri" pitchFamily="34" charset="0"/>
                <a:cs typeface="Calibri" pitchFamily="34" charset="0"/>
              </a:rPr>
              <a:t>Small fully associative cache.</a:t>
            </a:r>
          </a:p>
          <a:p>
            <a:pPr lvl="1"/>
            <a:r>
              <a:rPr lang="en-US" sz="2800" dirty="0" smtClean="0">
                <a:latin typeface="Calibri" pitchFamily="34" charset="0"/>
                <a:cs typeface="Calibri" pitchFamily="34" charset="0"/>
              </a:rPr>
              <a:t>Victim cache replaces the main cache entry if it is a hit.</a:t>
            </a:r>
          </a:p>
          <a:p>
            <a:pPr lvl="1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the entry is not available in victim cache then it goes to the next level cache is accessed.</a:t>
            </a:r>
          </a:p>
          <a:p>
            <a:pPr lvl="1"/>
            <a:r>
              <a:rPr lang="en-US" sz="2800" dirty="0" smtClean="0">
                <a:latin typeface="Calibri" pitchFamily="34" charset="0"/>
                <a:cs typeface="Calibri" pitchFamily="34" charset="0"/>
              </a:rPr>
              <a:t>Data from higher cache copied to both L1 and Victim.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PREVIOUS WORK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061157"/>
            <a:ext cx="8229600" cy="3365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VICTIM CACHE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PERFORMANCE OF VICTIM CACHE 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PERFORMANCE OF VICTIM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CACHE 2 LINE 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Stream Buffers</a:t>
            </a:r>
          </a:p>
          <a:p>
            <a:pPr lvl="1"/>
            <a:r>
              <a:rPr lang="en-US" sz="2800" dirty="0" smtClean="0">
                <a:latin typeface="Calibri" pitchFamily="34" charset="0"/>
                <a:cs typeface="Calibri" pitchFamily="34" charset="0"/>
              </a:rPr>
              <a:t>Array of cache lines dedicated to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prefetching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 lvl="1"/>
            <a:r>
              <a:rPr lang="en-US" sz="2800" dirty="0" smtClean="0">
                <a:latin typeface="Calibri" pitchFamily="34" charset="0"/>
                <a:cs typeface="Calibri" pitchFamily="34" charset="0"/>
              </a:rPr>
              <a:t>Stream buffer is checked on a cache miss.</a:t>
            </a:r>
          </a:p>
          <a:p>
            <a:pPr lvl="1"/>
            <a:r>
              <a:rPr lang="en-US" sz="2800" dirty="0" smtClean="0">
                <a:latin typeface="Calibri" pitchFamily="34" charset="0"/>
                <a:cs typeface="Calibri" pitchFamily="34" charset="0"/>
              </a:rPr>
              <a:t>Can be implemented as FIFO.</a:t>
            </a:r>
          </a:p>
          <a:p>
            <a:pPr lvl="1"/>
            <a:r>
              <a:rPr lang="en-US" sz="2800" dirty="0" smtClean="0">
                <a:latin typeface="Calibri" pitchFamily="34" charset="0"/>
                <a:cs typeface="Calibri" pitchFamily="34" charset="0"/>
              </a:rPr>
              <a:t>Request forwarded to next level cache when no match in stream buffers.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Calibri" pitchFamily="34" charset="0"/>
                <a:cs typeface="Calibri" pitchFamily="34" charset="0"/>
              </a:rPr>
              <a:t>STREAM BUFFERS</a:t>
            </a:r>
            <a:endParaRPr lang="en-US" sz="4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799" y="1295400"/>
            <a:ext cx="6510959" cy="4244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Calibri" pitchFamily="34" charset="0"/>
                <a:cs typeface="Calibri" pitchFamily="34" charset="0"/>
              </a:rPr>
              <a:t>STREAM BUFFERS</a:t>
            </a:r>
            <a:endParaRPr lang="en-US" sz="4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PERFORMANCE OF STREAM BUFFERS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PERFORMANCE OF STREAM BUFFERS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Victim caches do not perform better with increasing size.</a:t>
            </a:r>
          </a:p>
          <a:p>
            <a:r>
              <a:rPr lang="en-US" dirty="0" smtClean="0"/>
              <a:t>If there are misses in every line there is no benefit.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DRAWBACKS OF VICTIM CACHES 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Both stream buffers and victim cache just use recent history.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Performance can be improved if cache predicted earlier through miss prediction table.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Maintain a history queue of most recent 10 misses in cache.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Implements a concept called “HOTSPOT”.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The queue monitors the data entry control to victim cache and L1 cache.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PREDICTION CACHES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352800" y="1981200"/>
          <a:ext cx="167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</a:tblGrid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I2</a:t>
                      </a:r>
                      <a:endParaRPr lang="en-US" b="1" dirty="0"/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I3</a:t>
                      </a:r>
                      <a:endParaRPr lang="en-US" b="1" dirty="0"/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I4</a:t>
                      </a:r>
                      <a:endParaRPr lang="en-US" b="1" dirty="0"/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I5</a:t>
                      </a:r>
                      <a:endParaRPr lang="en-US" b="1" dirty="0"/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I6</a:t>
                      </a:r>
                      <a:endParaRPr lang="en-US" b="1" dirty="0"/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I7</a:t>
                      </a:r>
                      <a:endParaRPr lang="en-US" b="1" dirty="0"/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I8</a:t>
                      </a:r>
                      <a:endParaRPr lang="en-US" b="1" dirty="0"/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I9</a:t>
                      </a:r>
                      <a:endParaRPr lang="en-US" b="1" dirty="0"/>
                    </a:p>
                  </a:txBody>
                  <a:tcPr/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I10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PREDICTION CACHES CONTINUED…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000500" y="17145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4000500" y="59817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0" y="20574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MRU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62600" y="5410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LRU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43000" y="2057400"/>
            <a:ext cx="167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MISS PREDICTION HISTORY TABLE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Most misses caused by a cache line is a Hotspot.</a:t>
            </a:r>
          </a:p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The queue maintains a head and a tail.</a:t>
            </a:r>
          </a:p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Deletion of data from head and entry of new data from tail.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PREDICTION CACHES CONTINUED…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PREFORMANCE OF PREDICTION CACHES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PREFORMANCE OF PREDICTION CACHES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PREFORMANCE OF PREDICTION CACHES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PREFORMANCE OF PREDICTION CACHES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Stream buffers with low latency access.</a:t>
            </a:r>
          </a:p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 Data cache implementation for victim cache and stream buffers.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FUTURE WORK</a:t>
            </a:r>
            <a:r>
              <a:rPr lang="en-US" dirty="0" smtClean="0"/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1. P.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Jouppi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“Improving direct-mapped cache performance by the addition of a small fully-associative cache and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prefetch</a:t>
            </a:r>
            <a:r>
              <a:rPr lang="en-US" dirty="0">
                <a:latin typeface="Calibri" pitchFamily="34" charset="0"/>
                <a:cs typeface="Calibri" pitchFamily="34" charset="0"/>
              </a:rPr>
              <a:t> buffers,” 17th Annual International Symposium on Computer Architecture, pages 364-73, May 1990.</a:t>
            </a:r>
            <a:endParaRPr lang="en-US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2. S.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Palacharla</a:t>
            </a:r>
            <a:r>
              <a:rPr lang="en-US" dirty="0">
                <a:latin typeface="Calibri" pitchFamily="34" charset="0"/>
                <a:cs typeface="Calibri" pitchFamily="34" charset="0"/>
              </a:rPr>
              <a:t> and R.E. Kessler, “Evaluating stream buffers as a secondary cache replacement,” Proc. of the 21st International  Symposium on Computer Architecture, pages 24-33, April 1994.</a:t>
            </a:r>
            <a:endParaRPr lang="en-US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3. V.  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Phalke</a:t>
            </a:r>
            <a:r>
              <a:rPr lang="en-US" dirty="0">
                <a:latin typeface="Calibri" pitchFamily="34" charset="0"/>
                <a:cs typeface="Calibri" pitchFamily="34" charset="0"/>
              </a:rPr>
              <a:t> and B.  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Gopinath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“A miss history-based architecture  for cache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prefetching</a:t>
            </a:r>
            <a:r>
              <a:rPr lang="en-US" dirty="0">
                <a:latin typeface="Calibri" pitchFamily="34" charset="0"/>
                <a:cs typeface="Calibri" pitchFamily="34" charset="0"/>
              </a:rPr>
              <a:t>,” International Workshop  IWMM 95 Proceedings, pages 381-98, September  1995.</a:t>
            </a:r>
            <a:endParaRPr lang="en-US" b="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4.  I.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Farkas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P. Chow, N. P.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Jouppi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and Z. 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Vranesic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“Memory-system  design considerations for dynamically-scheduled  processors,” Proc. of the 24th Annual International Symposium on Computer Architecture, pages 133-43, June 1997.</a:t>
            </a:r>
            <a:endParaRPr lang="en-US" b="0" dirty="0" smtClean="0"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pic>
        <p:nvPicPr>
          <p:cNvPr id="1026" name="Picture 2" descr="C:\Users\Sweta\Desktop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057400"/>
            <a:ext cx="3810000" cy="3581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994</TotalTime>
  <Words>453</Words>
  <Application>Microsoft Office PowerPoint</Application>
  <PresentationFormat>On-screen Show (4:3)</PresentationFormat>
  <Paragraphs>114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Concourse</vt:lpstr>
      <vt:lpstr>PREDICTION CACHES FOR SUPERSCALAR PROCESSORS</vt:lpstr>
      <vt:lpstr>MOTIVATION</vt:lpstr>
      <vt:lpstr>BASE DESIGN IMPLEMENTATION</vt:lpstr>
      <vt:lpstr>Benchmarks</vt:lpstr>
      <vt:lpstr>BASE DESIGN IMPLEMENTATION</vt:lpstr>
      <vt:lpstr>PREVIOUS WORK</vt:lpstr>
      <vt:lpstr>VICTIM CACHE</vt:lpstr>
      <vt:lpstr>PERFORMANCE OF VICTIM CACHE </vt:lpstr>
      <vt:lpstr>PERFORMANCE OF VICTIM CACHE 2 LINE </vt:lpstr>
      <vt:lpstr>STREAM BUFFERS</vt:lpstr>
      <vt:lpstr>STREAM BUFFERS</vt:lpstr>
      <vt:lpstr>PERFORMANCE OF STREAM BUFFERS</vt:lpstr>
      <vt:lpstr>PERFORMANCE OF STREAM BUFFERS</vt:lpstr>
      <vt:lpstr>DRAWBACKS OF VICTIM CACHES </vt:lpstr>
      <vt:lpstr>PREDICTION CACHES</vt:lpstr>
      <vt:lpstr>PREDICTION CACHES CONTINUED…</vt:lpstr>
      <vt:lpstr>PREDICTION CACHES CONTINUED…</vt:lpstr>
      <vt:lpstr>PREFORMANCE OF PREDICTION CACHES</vt:lpstr>
      <vt:lpstr>PREFORMANCE OF PREDICTION CACHES</vt:lpstr>
      <vt:lpstr>PREFORMANCE OF PREDICTION CACHES</vt:lpstr>
      <vt:lpstr>PREFORMANCE OF PREDICTION CACHES</vt:lpstr>
      <vt:lpstr>FUTURE WORK  </vt:lpstr>
      <vt:lpstr>REFERENCES</vt:lpstr>
      <vt:lpstr>QUESTIONS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Sweta</dc:creator>
  <cp:lastModifiedBy>Sweta</cp:lastModifiedBy>
  <cp:revision>69</cp:revision>
  <dcterms:created xsi:type="dcterms:W3CDTF">2013-06-05T02:13:37Z</dcterms:created>
  <dcterms:modified xsi:type="dcterms:W3CDTF">2013-06-13T05:22:44Z</dcterms:modified>
</cp:coreProperties>
</file>